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Adaptive Resource Contract Engine (ARC)</a:t>
            </a:r>
          </a:p>
          <a:p>
            <a:pPr>
              <a:spcBef>
                <a:spcPts val="1800"/>
              </a:spcBef>
              <a:defRPr sz="2200">
                <a:solidFill>
                  <a:srgbClr val="BEDBFF"/>
                </a:solidFill>
              </a:defRPr>
            </a:pPr>
            <a:r>
              <a:t>Event-Driven OS Policy Engine — Monitoring, Contracts, Enforcement, Restoration</a:t>
            </a:r>
          </a:p>
          <a:p>
            <a:pPr>
              <a:spcBef>
                <a:spcPts val="3600"/>
              </a:spcBef>
              <a:defRPr sz="1800">
                <a:solidFill>
                  <a:srgbClr val="FFFFFF"/>
                </a:solidFill>
              </a:defRPr>
            </a:pPr>
            <a:r>
              <a:t>Operating Systems (BCSE303L)  •  Gagan Kishore (24BDE0073)  •  Shikhar Sahay (24BYB0029)</a:t>
            </a:r>
          </a:p>
          <a:p>
            <a:pPr>
              <a:defRPr sz="1400">
                <a:solidFill>
                  <a:srgbClr val="BEDBFF"/>
                </a:solidFill>
              </a:defRPr>
            </a:pPr>
            <a:r>
              <a:t>Under the guidance of Dr. Balasubramani M — School of Computer Science, Engineering and Information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• Problem: static resource policies vs dynamic workloads</a:t>
            </a:r>
          </a:p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• ARC in one line: trigger → actions → restoration</a:t>
            </a:r>
          </a:p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• Architecture &amp; contract model</a:t>
            </a:r>
          </a:p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• Implementation highlights</a:t>
            </a:r>
          </a:p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• Live lifecycle demo walkthrough</a:t>
            </a:r>
          </a:p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• Experiments &amp; results (latency, overhead, restoration, efficacy)</a:t>
            </a:r>
          </a:p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•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B6CB0"/>
                </a:solidFill>
              </a:defRPr>
            </a:pPr>
            <a:r>
              <a:t>Linux has the primitives — but no unified adaptive policy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• Linux exposes nice/renice, CPU affinity, cgroups, process control, /proc monitoring</a:t>
            </a:r>
          </a:p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• These mechanisms are configured independently and mostly statically</a:t>
            </a:r>
          </a:p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• No built-in mechanism to: continuously monitor → interpret user contracts → detect events → adapt policies</a:t>
            </a:r>
          </a:p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• Ad-hoc scripts are hard to maintain, coordinate, and reason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Research question: How can an event-driven policy engine dynamically enforce user-defined resource contracts on Linux based on changing runtime system conditions?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B6CB0"/>
                </a:solidFill>
              </a:defRPr>
            </a:pPr>
            <a:r>
              <a:t>Existing capabilities — used independently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00891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Existing approach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CPU 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nice, renice, scheduler policies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usually configured explicitly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CPU affinity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sched_setaffinity()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static CPU assignment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Linux cgroups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predefined limits only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/proc, monitoring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monitoring does not enforce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Ananicy, systemd-oomd,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app-specific / narrow scope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SmartOS (APSys'21)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365D"/>
                          </a:solidFill>
                        </a:defRPr>
                      </a:pPr>
                      <a:r>
                        <a:t>learned preferences, not explicit contracts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893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Gap: no lightweight contract abstraction connecting conditions → actions → restoration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Why ARC?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B6CB0"/>
                </a:solidFill>
              </a:defRPr>
            </a:pPr>
            <a:r>
              <a:t>Less like a power plan — more like an event-driven operating policy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A365D"/>
                </a:solidFill>
              </a:defRPr>
            </a:pPr>
            <a:r>
              <a:t>• Existing: resource limits configured manually or statically</a:t>
            </a:r>
          </a:p>
          <a:p>
            <a:pPr lvl="1"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– ARC: dynamically adjusts policies based on runtime conditions</a:t>
            </a:r>
          </a:p>
          <a:p>
            <a:pPr>
              <a:spcAft>
                <a:spcPts val="800"/>
              </a:spcAft>
              <a:defRPr sz="1900">
                <a:solidFill>
                  <a:srgbClr val="1A365D"/>
                </a:solidFill>
              </a:defRPr>
            </a:pPr>
            <a:r>
              <a:t>• Existing: policies require predefined actions</a:t>
            </a:r>
          </a:p>
          <a:p>
            <a:pPr lvl="1"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– ARC: user-defined contracts specify conditions, actions AND restoration</a:t>
            </a:r>
          </a:p>
          <a:p>
            <a:pPr>
              <a:spcAft>
                <a:spcPts val="800"/>
              </a:spcAft>
              <a:defRPr sz="1900">
                <a:solidFill>
                  <a:srgbClr val="1A365D"/>
                </a:solidFill>
              </a:defRPr>
            </a:pPr>
            <a:r>
              <a:t>• Existing: limited response to changing workloads</a:t>
            </a:r>
          </a:p>
          <a:p>
            <a:pPr lvl="1"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– ARC: continuously monitors and adapts; reverts automatically</a:t>
            </a:r>
          </a:p>
          <a:p>
            <a:pPr>
              <a:spcAft>
                <a:spcPts val="800"/>
              </a:spcAft>
              <a:defRPr sz="1900">
                <a:solidFill>
                  <a:srgbClr val="1A365D"/>
                </a:solidFill>
              </a:defRPr>
            </a:pPr>
            <a:r>
              <a:t>• OS concepts at the core: process management, CPU scheduling, resource allocation, system calls, concurrency, protection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B6CB0"/>
                </a:solidFill>
              </a:defRPr>
            </a:pPr>
            <a:r>
              <a:t>Modular pipeline — every stage extensible in isolation</a:t>
            </a:r>
          </a:p>
        </p:txBody>
      </p:sp>
      <p:pic>
        <p:nvPicPr>
          <p:cNvPr id="4" name="Picture 3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10058400" cy="50259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Contract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B6CB0"/>
                </a:solidFill>
              </a:defRPr>
            </a:pPr>
            <a:r>
              <a:t>Declarative YAML: trigger → actions → restoration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365D"/>
                </a:solidFill>
                <a:latin typeface="Consolas"/>
              </a:defRPr>
            </a:pPr>
            <a:r>
              <a:t>contracts:</a:t>
            </a:r>
          </a:p>
          <a:p>
            <a:pPr>
              <a:defRPr sz="1400">
                <a:solidFill>
                  <a:srgbClr val="1A365D"/>
                </a:solidFill>
                <a:latin typeface="Consolas"/>
              </a:defRPr>
            </a:pPr>
            <a:r>
              <a:t>  - name: compile-boost</a:t>
            </a:r>
          </a:p>
          <a:p>
            <a:pPr>
              <a:defRPr sz="1400">
                <a:solidFill>
                  <a:srgbClr val="1A365D"/>
                </a:solidFill>
                <a:latin typeface="Consolas"/>
              </a:defRPr>
            </a:pPr>
            <a:r>
              <a:t>    trigger:</a:t>
            </a:r>
          </a:p>
          <a:p>
            <a:pPr>
              <a:defRPr sz="1400">
                <a:solidFill>
                  <a:srgbClr val="1A365D"/>
                </a:solidFill>
                <a:latin typeface="Consolas"/>
              </a:defRPr>
            </a:pPr>
            <a:r>
              <a:t>      type: process_appears          # also: metric_threshold, battery_below</a:t>
            </a:r>
          </a:p>
          <a:p>
            <a:pPr>
              <a:defRPr sz="1400">
                <a:solidFill>
                  <a:srgbClr val="1A365D"/>
                </a:solidFill>
                <a:latin typeface="Consolas"/>
              </a:defRPr>
            </a:pPr>
            <a:r>
              <a:t>      match: "gcc|cc1plus|make"</a:t>
            </a:r>
          </a:p>
          <a:p>
            <a:pPr>
              <a:defRPr sz="1400">
                <a:solidFill>
                  <a:srgbClr val="1A365D"/>
                </a:solidFill>
                <a:latin typeface="Consolas"/>
              </a:defRPr>
            </a:pPr>
            <a:r>
              <a:t>      debounce_sec: 1.0</a:t>
            </a:r>
          </a:p>
          <a:p>
            <a:pPr>
              <a:defRPr sz="1400">
                <a:solidFill>
                  <a:srgbClr val="1A365D"/>
                </a:solidFill>
                <a:latin typeface="Consolas"/>
              </a:defRPr>
            </a:pPr>
            <a:r>
              <a:t>    actions:</a:t>
            </a:r>
          </a:p>
          <a:p>
            <a:pPr>
              <a:defRPr sz="1400">
                <a:solidFill>
                  <a:srgbClr val="1A365D"/>
                </a:solidFill>
                <a:latin typeface="Consolas"/>
              </a:defRPr>
            </a:pPr>
            <a:r>
              <a:t>      - {type: set_nice,  target: {match: "cc1plus"}, nice: -5}</a:t>
            </a:r>
          </a:p>
          <a:p>
            <a:pPr>
              <a:defRPr sz="1400">
                <a:solidFill>
                  <a:srgbClr val="1A365D"/>
                </a:solidFill>
                <a:latin typeface="Consolas"/>
              </a:defRPr>
            </a:pPr>
            <a:r>
              <a:t>      - {type: set_nice,  target: {match: "chromium"}, nice: 10}</a:t>
            </a:r>
          </a:p>
          <a:p>
            <a:pPr>
              <a:defRPr sz="1400">
                <a:solidFill>
                  <a:srgbClr val="1A365D"/>
                </a:solidFill>
                <a:latin typeface="Consolas"/>
              </a:defRPr>
            </a:pPr>
            <a:r>
              <a:t>    restore: {mode: on_trigger_clear}   # also: after_timeout, never</a:t>
            </a:r>
          </a:p>
          <a:p>
            <a:pPr>
              <a:defRPr sz="1400">
                <a:solidFill>
                  <a:srgbClr val="1A365D"/>
                </a:solidFill>
                <a:latin typeface="Consolas"/>
              </a:defRPr>
            </a:pPr>
            <a:r>
              <a:t>    cooldown_sec: 5.0</a:t>
            </a:r>
          </a:p>
          <a:p>
            <a:pPr>
              <a:defRPr sz="1400">
                <a:solidFill>
                  <a:srgbClr val="1A365D"/>
                </a:solidFill>
                <a:latin typeface="Consolas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589520" y="164592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Triggers: process events, CPU/mem/load thresholds, battery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Actions: nice, affinity, suspend/resume, cgroup limits, log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Restoration: exact revert of every snapshot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PID + create-time check defeats PID reuse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Contract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B6CB0"/>
                </a:solidFill>
              </a:defRPr>
            </a:pPr>
            <a:r>
              <a:t>Every contract is a small state machine</a:t>
            </a:r>
          </a:p>
        </p:txBody>
      </p:sp>
      <p:pic>
        <p:nvPicPr>
          <p:cNvPr id="4" name="Picture 3" descr="fig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326880" cy="34704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2120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• Debounce / hold windows prevent flapping; cooldown prevents re-trigger storms</a:t>
            </a:r>
          </a:p>
          <a:p>
            <a:pPr>
              <a:spcAft>
                <a:spcPts val="800"/>
              </a:spcAft>
              <a:defRPr sz="1600">
                <a:solidFill>
                  <a:srgbClr val="1A365D"/>
                </a:solidFill>
              </a:defRPr>
            </a:pPr>
            <a:r>
              <a:t>• Engine shutdown restores all active contracts (no leaked policies)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B6CB0"/>
                </a:solidFill>
              </a:defRPr>
            </a:pPr>
            <a:r>
              <a:t>Portable Python + psutil; one codebase, four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7 modules: monitor, events, contracts, actions, engine, logger, cli (~1,500 LOC)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Concurrency: sampler thread → thread-safe event queue → coordinator (RLock)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Capability layer: unsupported actions logged as SKIPPED, never crash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Privilege handling: nice clamping, cgroup/affinity fallbacks, clear log warnings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Cross-platform: Linux &amp; WSL (full), macOS (no affinity), Windows (no signal suspend)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CLI: arc validate | run | simulate | selftest | status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21 unit + integration tests (pytest), 100% pass in both privilege modes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B6CB0"/>
                </a:solidFill>
              </a:defRPr>
            </a:pPr>
            <a:r>
              <a:t>compile-boost contract, live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1. gcc/make appears → debounce 1 s → compiler boosted (nice −5), background apps deprioritized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2. Build finishes → trigger clears → original nice/affinity restored exactly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3. Battery drops below 25% → background workloads suspended; plugged in → resumed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4. Execution log shows every decision: trigger, action with before/after state, restore</a:t>
            </a:r>
          </a:p>
          <a:p>
            <a:pPr lvl="1"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– Safe dry-run demo runs on any OS: bash demo/run_demo.sh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Results I — Latency &amp; Overhead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B6CB0"/>
                </a:solidFill>
              </a:defRPr>
            </a:pPr>
            <a:r>
              <a:t>E1 + E2: tunable response, tiny footprint</a:t>
            </a:r>
          </a:p>
        </p:txBody>
      </p:sp>
      <p:pic>
        <p:nvPicPr>
          <p:cNvPr id="4" name="Picture 3" descr="e1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577840" cy="2826106"/>
          </a:xfrm>
          <a:prstGeom prst="rect">
            <a:avLst/>
          </a:prstGeom>
        </p:spPr>
      </p:pic>
      <p:pic>
        <p:nvPicPr>
          <p:cNvPr id="5" name="Picture 4" descr="e2_over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577840" cy="33467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394960"/>
            <a:ext cx="3520440" cy="105156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B6CB0"/>
                </a:solidFill>
              </a:defRPr>
            </a:pPr>
            <a:r>
              <a:t>202.1 ms</a:t>
            </a:r>
          </a:p>
          <a:p>
            <a:pPr algn="ctr">
              <a:defRPr sz="1200">
                <a:solidFill>
                  <a:srgbClr val="1A365D"/>
                </a:solidFill>
              </a:defRPr>
            </a:pPr>
            <a:r>
              <a:t>trigger→action @ 0.2 s interval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394960"/>
            <a:ext cx="3520440" cy="105156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B6CB0"/>
                </a:solidFill>
              </a:defRPr>
            </a:pPr>
            <a:r>
              <a:t>1.44% / 18.6 MB</a:t>
            </a:r>
          </a:p>
          <a:p>
            <a:pPr algn="ctr">
              <a:defRPr sz="1200">
                <a:solidFill>
                  <a:srgbClr val="1A365D"/>
                </a:solidFill>
              </a:defRPr>
            </a:pPr>
            <a:r>
              <a:t>CPU &amp; RAM @ 1 Hz sampling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5394960"/>
            <a:ext cx="3520440" cy="105156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B6CB0"/>
                </a:solidFill>
              </a:defRPr>
            </a:pPr>
            <a:r>
              <a:t>&lt; 6 ms</a:t>
            </a:r>
          </a:p>
          <a:p>
            <a:pPr algn="ctr">
              <a:defRPr sz="1200">
                <a:solidFill>
                  <a:srgbClr val="1A365D"/>
                </a:solidFill>
              </a:defRPr>
            </a:pPr>
            <a:r>
              <a:t>latency jitter (stdev)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Results II — Restoration &amp; Enforcement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B6CB0"/>
                </a:solidFill>
              </a:defRPr>
            </a:pPr>
            <a:r>
              <a:t>E3 + E4: exact revert, measurable effect</a:t>
            </a:r>
          </a:p>
        </p:txBody>
      </p:sp>
      <p:pic>
        <p:nvPicPr>
          <p:cNvPr id="4" name="Picture 3" descr="e4_n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583680" cy="38489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554480"/>
            <a:ext cx="4572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E3: 40/40 exact restorations (100%)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Priority + affinity both revert bit-exact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E4: protected workload 67% → 99.6% of a core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Deprioritized workload drops to 13.9%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Actions translate directly into scheduler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23560"/>
            <a:ext cx="5394960" cy="105156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B6CB0"/>
                </a:solidFill>
              </a:defRPr>
            </a:pPr>
            <a:r>
              <a:t>100.0%</a:t>
            </a:r>
          </a:p>
          <a:p>
            <a:pPr algn="ctr">
              <a:defRPr sz="1200">
                <a:solidFill>
                  <a:srgbClr val="1A365D"/>
                </a:solidFill>
              </a:defRPr>
            </a:pPr>
            <a:r>
              <a:t>exact restorations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5623560"/>
            <a:ext cx="5394960" cy="105156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B6CB0"/>
                </a:solidFill>
              </a:defRPr>
            </a:pPr>
            <a:r>
              <a:t>67% → 99.6%</a:t>
            </a:r>
          </a:p>
          <a:p>
            <a:pPr algn="ctr">
              <a:defRPr sz="1200">
                <a:solidFill>
                  <a:srgbClr val="1A365D"/>
                </a:solidFill>
              </a:defRPr>
            </a:pPr>
            <a:r>
              <a:t>CPU share when protected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Results III — Live Lifecycle &amp; Memory 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B6CB0"/>
                </a:solidFill>
              </a:defRPr>
            </a:pPr>
            <a:r>
              <a:t>E5 + E6: complete condition→restoration loop</a:t>
            </a:r>
          </a:p>
        </p:txBody>
      </p:sp>
      <p:pic>
        <p:nvPicPr>
          <p:cNvPr id="4" name="Picture 3" descr="e5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760720" cy="2304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55448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E5: trigger→action 304.3 ms (live processes)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E5: background nice restored exactly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E6: memory 25%→70.0% under 900 MB load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E6: contract triggered, hog nice→10, restored after clearance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23560"/>
            <a:ext cx="3520440" cy="105156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B6CB0"/>
                </a:solidFill>
              </a:defRPr>
            </a:pPr>
            <a:r>
              <a:t>304.3 ms</a:t>
            </a:r>
          </a:p>
          <a:p>
            <a:pPr algn="ctr">
              <a:defRPr sz="1200">
                <a:solidFill>
                  <a:srgbClr val="1A365D"/>
                </a:solidFill>
              </a:defRPr>
            </a:pPr>
            <a:r>
              <a:t>live trigger→action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623560"/>
            <a:ext cx="3520440" cy="105156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B6CB0"/>
                </a:solidFill>
              </a:defRPr>
            </a:pPr>
            <a:r>
              <a:t>40/40</a:t>
            </a:r>
          </a:p>
          <a:p>
            <a:pPr algn="ctr">
              <a:defRPr sz="1200">
                <a:solidFill>
                  <a:srgbClr val="1A365D"/>
                </a:solidFill>
              </a:defRPr>
            </a:pPr>
            <a:r>
              <a:t>exact restores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5623560"/>
            <a:ext cx="3520440" cy="105156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B6CB0"/>
                </a:solidFill>
              </a:defRPr>
            </a:pPr>
            <a:r>
              <a:t>YES</a:t>
            </a:r>
          </a:p>
          <a:p>
            <a:pPr algn="ctr">
              <a:defRPr sz="1200">
                <a:solidFill>
                  <a:srgbClr val="1A365D"/>
                </a:solidFill>
              </a:defRPr>
            </a:pPr>
            <a:r>
              <a:t>memory guard lifecycle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B6CB0"/>
                </a:solidFill>
              </a:defRPr>
            </a:pPr>
            <a:r>
              <a:t>What the numbers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Latency is deterministic and tunable: it equals the sampling interval operators choose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Overhead low enough for always-on background operation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Restoration solves the biggest flaw of ad-hoc scripting: policies that never get undone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Limitations: sampling-based detection (not kernel events); privilege needed to raise priority on POSIX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Works uniformly across Linux, WSL, macOS, Windows with graceful degradation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ARC = monitoring + event detection + contracts + dynamic enforcement + restoration in one layer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Demonstrates OS concepts in a real system: scheduling, affinity, signals, cgroups, concurrency, protection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Delivers full Review-3 scope: implementation, experimentation, performance evaluation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• Future: eBPF/proc-connector events, I/O + memory.high controls, contract conflict resolution, TUI/GUI manager, systemd packaging, publication extension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[1] Linux Kernel Documentation, "Control Group v2." kernel.org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[2] Linux Kernel Documentation, "The /proc Filesystem." kernel.org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[3] Ananicy-cpp: An Auto Nice Daemon. github.com/CachyOS/ananicy-cpp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[4] systemd-oomd.service. freedesktop.org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[5] TuneD Project Documentation. tuned-project.org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[6] S. Goodarzy et al., "SmartOS: Towards Automated Learning and User-Adaptive Resource Allocation in Operating Systems," APSys 2021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[7] M. Kerrisk, "sched_setaffinity(2)," Linux man-pages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[8] W. M. Stevens, S. A. Rago, Advanced Programming in the UNIX Environment, 3rd ed., 2013</a:t>
            </a:r>
          </a:p>
          <a:p>
            <a:pPr>
              <a:spcAft>
                <a:spcPts val="800"/>
              </a:spcAft>
              <a:defRPr sz="1500">
                <a:solidFill>
                  <a:srgbClr val="1A365D"/>
                </a:solidFill>
              </a:defRPr>
            </a:pPr>
            <a:r>
              <a:t>• [9] psutil documentation. psutil.readthedocs.io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000">
                <a:solidFill>
                  <a:srgbClr val="BEDBFF"/>
                </a:solidFill>
              </a:defRPr>
            </a:pPr>
            <a:r>
              <a:t>Questions &amp; Discussion  •  ARC demo available on Linux / WSL / macOS / Windows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